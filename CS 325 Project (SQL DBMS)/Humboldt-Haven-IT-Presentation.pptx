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63"/>
  </p:normalViewPr>
  <p:slideViewPr>
    <p:cSldViewPr snapToGrid="0">
      <p:cViewPr varScale="1">
        <p:scale>
          <a:sx n="156" d="100"/>
          <a:sy n="156" d="100"/>
        </p:scale>
        <p:origin x="600"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1dad2cdb44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1dad2cdb4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Nathan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1dad2cdb44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1dad2cdb44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Nathan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1dbbec2ea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1dbbec2ea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Dean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1dbbec2eaf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1dbbec2ea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Dean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1dc0945892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1dc0945892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Jaztin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1dc0945892_1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1dc0945892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Jaztin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1df71174b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1df71174b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hyperlink" Target="http://drive.google.com/file/d/1QWq7CtCznoSvyOcRJlY5teVCxAnI6tJo/view"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Humboldt Haven IT</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55000" lnSpcReduction="20000"/>
          </a:bodyPr>
          <a:lstStyle/>
          <a:p>
            <a:pPr marL="0" lvl="0" indent="0" algn="ctr" rtl="0">
              <a:spcBef>
                <a:spcPts val="0"/>
              </a:spcBef>
              <a:spcAft>
                <a:spcPts val="0"/>
              </a:spcAft>
              <a:buClr>
                <a:schemeClr val="dk1"/>
              </a:buClr>
              <a:buSzPct val="36890"/>
              <a:buFont typeface="Arial"/>
              <a:buNone/>
            </a:pPr>
            <a:r>
              <a:rPr lang="en" sz="2981">
                <a:solidFill>
                  <a:schemeClr val="dk1"/>
                </a:solidFill>
              </a:rPr>
              <a:t> Dean Callahan, Jaztin Marasigan, Nathan Watson</a:t>
            </a:r>
            <a:endParaRPr sz="2981">
              <a:solidFill>
                <a:schemeClr val="dk1"/>
              </a:solidFill>
            </a:endParaRPr>
          </a:p>
          <a:p>
            <a:pPr marL="0" lvl="0" indent="0" algn="ctr" rtl="0">
              <a:spcBef>
                <a:spcPts val="0"/>
              </a:spcBef>
              <a:spcAft>
                <a:spcPts val="0"/>
              </a:spcAft>
              <a:buClr>
                <a:schemeClr val="dk1"/>
              </a:buClr>
              <a:buSzPct val="39285"/>
              <a:buFont typeface="Arial"/>
              <a:buNone/>
            </a:pPr>
            <a:endParaRPr/>
          </a:p>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Scenario</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solidFill>
                  <a:schemeClr val="dk1"/>
                </a:solidFill>
              </a:rPr>
              <a:t>Humboldt Haven provides expert computer repair and IT support services to both businesses and individual clients.  We offer services such as virus removal, hardware upgrades, software troubleshooting, and network setup. Humboldt Haven also offers maintenance contracts for small businesses only, providing monthly check-ups, system updates, and emergency support.</a:t>
            </a:r>
            <a:endParaRPr>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Business Rules</a:t>
            </a:r>
            <a:endParaRPr/>
          </a:p>
        </p:txBody>
      </p:sp>
      <p:sp>
        <p:nvSpPr>
          <p:cNvPr id="67" name="Google Shape;67;p15"/>
          <p:cNvSpPr txBox="1">
            <a:spLocks noGrp="1"/>
          </p:cNvSpPr>
          <p:nvPr>
            <p:ph type="body" idx="1"/>
          </p:nvPr>
        </p:nvSpPr>
        <p:spPr>
          <a:xfrm>
            <a:off x="311700" y="1152475"/>
            <a:ext cx="8520600" cy="37764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1700">
                <a:solidFill>
                  <a:schemeClr val="dk1"/>
                </a:solidFill>
              </a:rPr>
              <a:t>Small Selection:</a:t>
            </a:r>
            <a:endParaRPr sz="1700">
              <a:solidFill>
                <a:schemeClr val="dk1"/>
              </a:solidFill>
            </a:endParaRPr>
          </a:p>
          <a:p>
            <a:pPr marL="457200" lvl="0" indent="-336550" algn="l" rtl="0">
              <a:spcBef>
                <a:spcPts val="1200"/>
              </a:spcBef>
              <a:spcAft>
                <a:spcPts val="0"/>
              </a:spcAft>
              <a:buClr>
                <a:schemeClr val="dk1"/>
              </a:buClr>
              <a:buSzPts val="1700"/>
              <a:buChar char="●"/>
            </a:pPr>
            <a:r>
              <a:rPr lang="en" sz="1700">
                <a:solidFill>
                  <a:schemeClr val="dk1"/>
                </a:solidFill>
              </a:rPr>
              <a:t>Multiple customers can submit one ticket and customers can submit multiple tickets.</a:t>
            </a:r>
            <a:endParaRPr sz="17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Only 1 Humboldt Haven IT business location exists.</a:t>
            </a:r>
            <a:endParaRPr sz="17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Multiple technicians can work on one ticket and technicians can be assigned multiple tickets.</a:t>
            </a:r>
            <a:endParaRPr sz="17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Every customer must have a unique customer ID, and this field cannot be null.</a:t>
            </a:r>
            <a:endParaRPr sz="17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Every employee must have a unique employee ID which cannot be null.</a:t>
            </a:r>
            <a:endParaRPr sz="17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Inventory quantity must always be a non-negative integer.</a:t>
            </a:r>
            <a:endParaRPr sz="17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Employee salary must always be positive.</a:t>
            </a:r>
            <a:endParaRPr sz="17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Method of payment must match the approved payment methods (cash,debit,credit,check).</a:t>
            </a:r>
            <a:endParaRPr sz="1700">
              <a:solidFill>
                <a:schemeClr val="dk1"/>
              </a:solidFill>
            </a:endParaRPr>
          </a:p>
          <a:p>
            <a:pPr marL="457200" lvl="0" indent="0" algn="l" rtl="0">
              <a:spcBef>
                <a:spcPts val="1200"/>
              </a:spcBef>
              <a:spcAft>
                <a:spcPts val="0"/>
              </a:spcAft>
              <a:buNone/>
            </a:pPr>
            <a:endParaRPr sz="1700"/>
          </a:p>
          <a:p>
            <a:pPr marL="0" lvl="0" indent="0" algn="l" rtl="0">
              <a:spcBef>
                <a:spcPts val="1200"/>
              </a:spcBef>
              <a:spcAft>
                <a:spcPts val="0"/>
              </a:spcAft>
              <a:buClr>
                <a:schemeClr val="dk1"/>
              </a:buClr>
              <a:buSzPts val="1100"/>
              <a:buFont typeface="Arial"/>
              <a:buNone/>
            </a:pPr>
            <a:endParaRPr sz="1700"/>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ER Diagram</a:t>
            </a:r>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74" name="Google Shape;74;p16"/>
          <p:cNvSpPr txBox="1"/>
          <p:nvPr/>
        </p:nvSpPr>
        <p:spPr>
          <a:xfrm>
            <a:off x="6035600" y="707875"/>
            <a:ext cx="1324500" cy="147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Business</a:t>
            </a:r>
            <a:endParaRPr sz="1100"/>
          </a:p>
          <a:p>
            <a:pPr marL="0" lvl="0" indent="0" algn="l" rtl="0">
              <a:spcBef>
                <a:spcPts val="0"/>
              </a:spcBef>
              <a:spcAft>
                <a:spcPts val="0"/>
              </a:spcAft>
              <a:buNone/>
            </a:pPr>
            <a:r>
              <a:rPr lang="en" sz="1100"/>
              <a:t>—---------</a:t>
            </a:r>
            <a:endParaRPr sz="1100"/>
          </a:p>
          <a:p>
            <a:pPr marL="0" lvl="0" indent="0" algn="l" rtl="0">
              <a:lnSpc>
                <a:spcPct val="115000"/>
              </a:lnSpc>
              <a:spcBef>
                <a:spcPts val="0"/>
              </a:spcBef>
              <a:spcAft>
                <a:spcPts val="0"/>
              </a:spcAft>
              <a:buNone/>
            </a:pPr>
            <a:r>
              <a:rPr lang="en" sz="1100"/>
              <a:t>BusinessID</a:t>
            </a:r>
            <a:endParaRPr sz="1100"/>
          </a:p>
          <a:p>
            <a:pPr marL="0" lvl="0" indent="0" algn="l" rtl="0">
              <a:lnSpc>
                <a:spcPct val="115000"/>
              </a:lnSpc>
              <a:spcBef>
                <a:spcPts val="0"/>
              </a:spcBef>
              <a:spcAft>
                <a:spcPts val="0"/>
              </a:spcAft>
              <a:buNone/>
            </a:pPr>
            <a:r>
              <a:rPr lang="en" sz="1100"/>
              <a:t>TaxID</a:t>
            </a:r>
            <a:endParaRPr sz="1100"/>
          </a:p>
          <a:p>
            <a:pPr marL="0" lvl="0" indent="0" algn="l" rtl="0">
              <a:lnSpc>
                <a:spcPct val="115000"/>
              </a:lnSpc>
              <a:spcBef>
                <a:spcPts val="0"/>
              </a:spcBef>
              <a:spcAft>
                <a:spcPts val="0"/>
              </a:spcAft>
              <a:buNone/>
            </a:pPr>
            <a:r>
              <a:rPr lang="en" sz="1100"/>
              <a:t>DBA</a:t>
            </a:r>
            <a:endParaRPr sz="1100"/>
          </a:p>
          <a:p>
            <a:pPr marL="0" lvl="0" indent="0" algn="l" rtl="0">
              <a:lnSpc>
                <a:spcPct val="115000"/>
              </a:lnSpc>
              <a:spcBef>
                <a:spcPts val="0"/>
              </a:spcBef>
              <a:spcAft>
                <a:spcPts val="0"/>
              </a:spcAft>
              <a:buNone/>
            </a:pPr>
            <a:r>
              <a:rPr lang="en" sz="1100"/>
              <a:t>Address</a:t>
            </a:r>
            <a:endParaRPr sz="1100"/>
          </a:p>
          <a:p>
            <a:pPr marL="0" lvl="0" indent="0" algn="l" rtl="0">
              <a:lnSpc>
                <a:spcPct val="115000"/>
              </a:lnSpc>
              <a:spcBef>
                <a:spcPts val="0"/>
              </a:spcBef>
              <a:spcAft>
                <a:spcPts val="0"/>
              </a:spcAft>
              <a:buNone/>
            </a:pPr>
            <a:r>
              <a:rPr lang="en" sz="1100"/>
              <a:t>Hours_Operation</a:t>
            </a:r>
            <a:endParaRPr sz="1100"/>
          </a:p>
        </p:txBody>
      </p:sp>
      <p:sp>
        <p:nvSpPr>
          <p:cNvPr id="75" name="Google Shape;75;p16"/>
          <p:cNvSpPr txBox="1"/>
          <p:nvPr/>
        </p:nvSpPr>
        <p:spPr>
          <a:xfrm>
            <a:off x="6063200" y="2212300"/>
            <a:ext cx="1269300" cy="205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Employee</a:t>
            </a:r>
            <a:endParaRPr sz="1100"/>
          </a:p>
          <a:p>
            <a:pPr marL="0" lvl="0" indent="0" algn="l" rtl="0">
              <a:spcBef>
                <a:spcPts val="0"/>
              </a:spcBef>
              <a:spcAft>
                <a:spcPts val="0"/>
              </a:spcAft>
              <a:buNone/>
            </a:pPr>
            <a:r>
              <a:rPr lang="en" sz="1100"/>
              <a:t>—---------</a:t>
            </a:r>
            <a:endParaRPr sz="1100"/>
          </a:p>
          <a:p>
            <a:pPr marL="0" lvl="0" indent="0" algn="l" rtl="0">
              <a:lnSpc>
                <a:spcPct val="115000"/>
              </a:lnSpc>
              <a:spcBef>
                <a:spcPts val="0"/>
              </a:spcBef>
              <a:spcAft>
                <a:spcPts val="0"/>
              </a:spcAft>
              <a:buNone/>
            </a:pPr>
            <a:r>
              <a:rPr lang="en" sz="1100"/>
              <a:t>EmplID</a:t>
            </a:r>
            <a:endParaRPr sz="1100"/>
          </a:p>
          <a:p>
            <a:pPr marL="0" lvl="0" indent="0" algn="l" rtl="0">
              <a:lnSpc>
                <a:spcPct val="115000"/>
              </a:lnSpc>
              <a:spcBef>
                <a:spcPts val="0"/>
              </a:spcBef>
              <a:spcAft>
                <a:spcPts val="0"/>
              </a:spcAft>
              <a:buNone/>
            </a:pPr>
            <a:r>
              <a:rPr lang="en" sz="1100"/>
              <a:t>EmplSalary</a:t>
            </a:r>
            <a:endParaRPr sz="1100"/>
          </a:p>
          <a:p>
            <a:pPr marL="0" lvl="0" indent="0" algn="l" rtl="0">
              <a:lnSpc>
                <a:spcPct val="115000"/>
              </a:lnSpc>
              <a:spcBef>
                <a:spcPts val="0"/>
              </a:spcBef>
              <a:spcAft>
                <a:spcPts val="0"/>
              </a:spcAft>
              <a:buNone/>
            </a:pPr>
            <a:r>
              <a:rPr lang="en" sz="1100"/>
              <a:t>EmplFName</a:t>
            </a:r>
            <a:endParaRPr sz="1100"/>
          </a:p>
          <a:p>
            <a:pPr marL="0" lvl="0" indent="0" algn="l" rtl="0">
              <a:lnSpc>
                <a:spcPct val="115000"/>
              </a:lnSpc>
              <a:spcBef>
                <a:spcPts val="0"/>
              </a:spcBef>
              <a:spcAft>
                <a:spcPts val="0"/>
              </a:spcAft>
              <a:buNone/>
            </a:pPr>
            <a:r>
              <a:rPr lang="en" sz="1100"/>
              <a:t>EmplLName</a:t>
            </a:r>
            <a:endParaRPr sz="1100"/>
          </a:p>
          <a:p>
            <a:pPr marL="0" lvl="0" indent="0" algn="l" rtl="0">
              <a:lnSpc>
                <a:spcPct val="115000"/>
              </a:lnSpc>
              <a:spcBef>
                <a:spcPts val="0"/>
              </a:spcBef>
              <a:spcAft>
                <a:spcPts val="0"/>
              </a:spcAft>
              <a:buNone/>
            </a:pPr>
            <a:r>
              <a:rPr lang="en" sz="1100"/>
              <a:t>EmplEmail (mv)</a:t>
            </a:r>
            <a:endParaRPr sz="1100"/>
          </a:p>
          <a:p>
            <a:pPr marL="0" lvl="0" indent="0" algn="l" rtl="0">
              <a:lnSpc>
                <a:spcPct val="115000"/>
              </a:lnSpc>
              <a:spcBef>
                <a:spcPts val="0"/>
              </a:spcBef>
              <a:spcAft>
                <a:spcPts val="0"/>
              </a:spcAft>
              <a:buNone/>
            </a:pPr>
            <a:r>
              <a:rPr lang="en" sz="1100"/>
              <a:t>EmplPhone (mv)</a:t>
            </a:r>
            <a:endParaRPr sz="1100"/>
          </a:p>
          <a:p>
            <a:pPr marL="0" lvl="0" indent="0" algn="l" rtl="0">
              <a:lnSpc>
                <a:spcPct val="115000"/>
              </a:lnSpc>
              <a:spcBef>
                <a:spcPts val="0"/>
              </a:spcBef>
              <a:spcAft>
                <a:spcPts val="0"/>
              </a:spcAft>
              <a:buNone/>
            </a:pPr>
            <a:r>
              <a:rPr lang="en" sz="1100"/>
              <a:t>EmplAddress</a:t>
            </a:r>
            <a:endParaRPr sz="1100"/>
          </a:p>
          <a:p>
            <a:pPr marL="0" lvl="0" indent="0" algn="l" rtl="0">
              <a:lnSpc>
                <a:spcPct val="115000"/>
              </a:lnSpc>
              <a:spcBef>
                <a:spcPts val="0"/>
              </a:spcBef>
              <a:spcAft>
                <a:spcPts val="0"/>
              </a:spcAft>
              <a:buNone/>
            </a:pPr>
            <a:r>
              <a:rPr lang="en" sz="1100"/>
              <a:t>Hiredate</a:t>
            </a:r>
            <a:endParaRPr sz="1100"/>
          </a:p>
        </p:txBody>
      </p:sp>
      <p:sp>
        <p:nvSpPr>
          <p:cNvPr id="76" name="Google Shape;76;p16"/>
          <p:cNvSpPr txBox="1"/>
          <p:nvPr/>
        </p:nvSpPr>
        <p:spPr>
          <a:xfrm>
            <a:off x="7209900" y="1696350"/>
            <a:ext cx="1324500" cy="144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Manager-</a:t>
            </a:r>
            <a:endParaRPr sz="1100"/>
          </a:p>
          <a:p>
            <a:pPr marL="0" lvl="0" indent="0" algn="l" rtl="0">
              <a:spcBef>
                <a:spcPts val="0"/>
              </a:spcBef>
              <a:spcAft>
                <a:spcPts val="0"/>
              </a:spcAft>
              <a:buNone/>
            </a:pPr>
            <a:r>
              <a:rPr lang="en" sz="1100"/>
              <a:t>Employee</a:t>
            </a:r>
            <a:endParaRPr sz="1100"/>
          </a:p>
          <a:p>
            <a:pPr marL="0" lvl="0" indent="0" algn="l" rtl="0">
              <a:spcBef>
                <a:spcPts val="0"/>
              </a:spcBef>
              <a:spcAft>
                <a:spcPts val="0"/>
              </a:spcAft>
              <a:buNone/>
            </a:pPr>
            <a:r>
              <a:rPr lang="en" sz="1100"/>
              <a:t>—---------</a:t>
            </a:r>
            <a:endParaRPr sz="1100"/>
          </a:p>
          <a:p>
            <a:pPr marL="0" lvl="0" indent="0" algn="l" rtl="0">
              <a:lnSpc>
                <a:spcPct val="115000"/>
              </a:lnSpc>
              <a:spcBef>
                <a:spcPts val="0"/>
              </a:spcBef>
              <a:spcAft>
                <a:spcPts val="0"/>
              </a:spcAft>
              <a:buNone/>
            </a:pPr>
            <a:r>
              <a:rPr lang="en" sz="1100"/>
              <a:t>ManagerID</a:t>
            </a:r>
            <a:endParaRPr sz="1100"/>
          </a:p>
          <a:p>
            <a:pPr marL="0" lvl="0" indent="0" algn="l" rtl="0">
              <a:lnSpc>
                <a:spcPct val="115000"/>
              </a:lnSpc>
              <a:spcBef>
                <a:spcPts val="0"/>
              </a:spcBef>
              <a:spcAft>
                <a:spcPts val="0"/>
              </a:spcAft>
              <a:buNone/>
            </a:pPr>
            <a:r>
              <a:rPr lang="en" sz="1100"/>
              <a:t>ManagerBonus</a:t>
            </a:r>
            <a:endParaRPr sz="1100"/>
          </a:p>
          <a:p>
            <a:pPr marL="0" lvl="0" indent="0" algn="l" rtl="0">
              <a:lnSpc>
                <a:spcPct val="115000"/>
              </a:lnSpc>
              <a:spcBef>
                <a:spcPts val="0"/>
              </a:spcBef>
              <a:spcAft>
                <a:spcPts val="0"/>
              </a:spcAft>
              <a:buNone/>
            </a:pPr>
            <a:endParaRPr sz="1100"/>
          </a:p>
          <a:p>
            <a:pPr marL="0" lvl="0" indent="0" algn="l" rtl="0">
              <a:lnSpc>
                <a:spcPct val="115000"/>
              </a:lnSpc>
              <a:spcBef>
                <a:spcPts val="0"/>
              </a:spcBef>
              <a:spcAft>
                <a:spcPts val="0"/>
              </a:spcAft>
              <a:buNone/>
            </a:pPr>
            <a:endParaRPr sz="1100"/>
          </a:p>
        </p:txBody>
      </p:sp>
      <p:sp>
        <p:nvSpPr>
          <p:cNvPr id="77" name="Google Shape;77;p16"/>
          <p:cNvSpPr txBox="1"/>
          <p:nvPr/>
        </p:nvSpPr>
        <p:spPr>
          <a:xfrm>
            <a:off x="6925250" y="707875"/>
            <a:ext cx="1782600" cy="125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Technician-Employee</a:t>
            </a:r>
            <a:endParaRPr sz="1100"/>
          </a:p>
          <a:p>
            <a:pPr marL="0" lvl="0" indent="0" algn="l" rtl="0">
              <a:spcBef>
                <a:spcPts val="0"/>
              </a:spcBef>
              <a:spcAft>
                <a:spcPts val="0"/>
              </a:spcAft>
              <a:buNone/>
            </a:pPr>
            <a:r>
              <a:rPr lang="en" sz="1100"/>
              <a:t>—---------</a:t>
            </a:r>
            <a:endParaRPr sz="1100"/>
          </a:p>
          <a:p>
            <a:pPr marL="0" lvl="0" indent="0" algn="l" rtl="0">
              <a:spcBef>
                <a:spcPts val="0"/>
              </a:spcBef>
              <a:spcAft>
                <a:spcPts val="0"/>
              </a:spcAft>
              <a:buNone/>
            </a:pPr>
            <a:r>
              <a:rPr lang="en" sz="1100"/>
              <a:t>TechnicianID</a:t>
            </a:r>
            <a:endParaRPr sz="1100"/>
          </a:p>
          <a:p>
            <a:pPr marL="0" lvl="0" indent="0" algn="l" rtl="0">
              <a:lnSpc>
                <a:spcPct val="115000"/>
              </a:lnSpc>
              <a:spcBef>
                <a:spcPts val="0"/>
              </a:spcBef>
              <a:spcAft>
                <a:spcPts val="0"/>
              </a:spcAft>
              <a:buNone/>
            </a:pPr>
            <a:r>
              <a:rPr lang="en" sz="1100"/>
              <a:t>TechCertifications (mv)</a:t>
            </a:r>
            <a:endParaRPr sz="1100"/>
          </a:p>
          <a:p>
            <a:pPr marL="0" lvl="0" indent="0" algn="l" rtl="0">
              <a:lnSpc>
                <a:spcPct val="115000"/>
              </a:lnSpc>
              <a:spcBef>
                <a:spcPts val="0"/>
              </a:spcBef>
              <a:spcAft>
                <a:spcPts val="0"/>
              </a:spcAft>
              <a:buNone/>
            </a:pPr>
            <a:r>
              <a:rPr lang="en" sz="1100"/>
              <a:t>TicketsCompleted</a:t>
            </a:r>
            <a:endParaRPr sz="1100"/>
          </a:p>
          <a:p>
            <a:pPr marL="0" lvl="0" indent="0" algn="l" rtl="0">
              <a:lnSpc>
                <a:spcPct val="115000"/>
              </a:lnSpc>
              <a:spcBef>
                <a:spcPts val="0"/>
              </a:spcBef>
              <a:spcAft>
                <a:spcPts val="0"/>
              </a:spcAft>
              <a:buNone/>
            </a:pPr>
            <a:endParaRPr sz="1100"/>
          </a:p>
        </p:txBody>
      </p:sp>
      <p:sp>
        <p:nvSpPr>
          <p:cNvPr id="78" name="Google Shape;78;p16"/>
          <p:cNvSpPr txBox="1"/>
          <p:nvPr/>
        </p:nvSpPr>
        <p:spPr>
          <a:xfrm>
            <a:off x="7209900" y="2647950"/>
            <a:ext cx="1324500" cy="1276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Customer</a:t>
            </a:r>
            <a:endParaRPr sz="1100"/>
          </a:p>
          <a:p>
            <a:pPr marL="0" lvl="0" indent="0" algn="l" rtl="0">
              <a:spcBef>
                <a:spcPts val="0"/>
              </a:spcBef>
              <a:spcAft>
                <a:spcPts val="0"/>
              </a:spcAft>
              <a:buNone/>
            </a:pPr>
            <a:r>
              <a:rPr lang="en" sz="1100"/>
              <a:t>—---------</a:t>
            </a:r>
            <a:endParaRPr sz="1100"/>
          </a:p>
          <a:p>
            <a:pPr marL="0" lvl="0" indent="0" algn="l" rtl="0">
              <a:lnSpc>
                <a:spcPct val="115000"/>
              </a:lnSpc>
              <a:spcBef>
                <a:spcPts val="0"/>
              </a:spcBef>
              <a:spcAft>
                <a:spcPts val="0"/>
              </a:spcAft>
              <a:buNone/>
            </a:pPr>
            <a:r>
              <a:rPr lang="en" sz="1100"/>
              <a:t>CustomerID</a:t>
            </a:r>
            <a:endParaRPr sz="1100"/>
          </a:p>
          <a:p>
            <a:pPr marL="0" lvl="0" indent="0" algn="l" rtl="0">
              <a:lnSpc>
                <a:spcPct val="115000"/>
              </a:lnSpc>
              <a:spcBef>
                <a:spcPts val="0"/>
              </a:spcBef>
              <a:spcAft>
                <a:spcPts val="0"/>
              </a:spcAft>
              <a:buNone/>
            </a:pPr>
            <a:r>
              <a:rPr lang="en" sz="1100"/>
              <a:t>CustEmail (mv)</a:t>
            </a:r>
            <a:endParaRPr sz="1100"/>
          </a:p>
          <a:p>
            <a:pPr marL="0" lvl="0" indent="0" algn="l" rtl="0">
              <a:lnSpc>
                <a:spcPct val="115000"/>
              </a:lnSpc>
              <a:spcBef>
                <a:spcPts val="0"/>
              </a:spcBef>
              <a:spcAft>
                <a:spcPts val="0"/>
              </a:spcAft>
              <a:buNone/>
            </a:pPr>
            <a:r>
              <a:rPr lang="en" sz="1100"/>
              <a:t>CustPhone (mv)</a:t>
            </a:r>
            <a:endParaRPr sz="1100"/>
          </a:p>
          <a:p>
            <a:pPr marL="0" lvl="0" indent="0" algn="l" rtl="0">
              <a:lnSpc>
                <a:spcPct val="115000"/>
              </a:lnSpc>
              <a:spcBef>
                <a:spcPts val="0"/>
              </a:spcBef>
              <a:spcAft>
                <a:spcPts val="0"/>
              </a:spcAft>
              <a:buNone/>
            </a:pPr>
            <a:r>
              <a:rPr lang="en" sz="1100"/>
              <a:t>CustAddress</a:t>
            </a:r>
            <a:endParaRPr sz="1100" b="1" u="sng"/>
          </a:p>
        </p:txBody>
      </p:sp>
      <p:sp>
        <p:nvSpPr>
          <p:cNvPr id="79" name="Google Shape;79;p16"/>
          <p:cNvSpPr txBox="1"/>
          <p:nvPr/>
        </p:nvSpPr>
        <p:spPr>
          <a:xfrm>
            <a:off x="6829575" y="3946150"/>
            <a:ext cx="1324500" cy="144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Individual Client-</a:t>
            </a:r>
            <a:endParaRPr sz="1100"/>
          </a:p>
          <a:p>
            <a:pPr marL="0" lvl="0" indent="0" algn="l" rtl="0">
              <a:spcBef>
                <a:spcPts val="0"/>
              </a:spcBef>
              <a:spcAft>
                <a:spcPts val="0"/>
              </a:spcAft>
              <a:buNone/>
            </a:pPr>
            <a:r>
              <a:rPr lang="en" sz="1100"/>
              <a:t>Customer</a:t>
            </a:r>
            <a:endParaRPr sz="1100"/>
          </a:p>
          <a:p>
            <a:pPr marL="0" lvl="0" indent="0" algn="l" rtl="0">
              <a:spcBef>
                <a:spcPts val="0"/>
              </a:spcBef>
              <a:spcAft>
                <a:spcPts val="0"/>
              </a:spcAft>
              <a:buNone/>
            </a:pPr>
            <a:r>
              <a:rPr lang="en" sz="1100"/>
              <a:t>—---------</a:t>
            </a:r>
            <a:endParaRPr sz="1100"/>
          </a:p>
          <a:p>
            <a:pPr marL="0" lvl="0" indent="0" algn="l" rtl="0">
              <a:lnSpc>
                <a:spcPct val="115000"/>
              </a:lnSpc>
              <a:spcBef>
                <a:spcPts val="0"/>
              </a:spcBef>
              <a:spcAft>
                <a:spcPts val="0"/>
              </a:spcAft>
              <a:buNone/>
            </a:pPr>
            <a:r>
              <a:rPr lang="en" sz="1100"/>
              <a:t>ClientID</a:t>
            </a:r>
            <a:endParaRPr sz="1100"/>
          </a:p>
          <a:p>
            <a:pPr marL="0" lvl="0" indent="0" algn="l" rtl="0">
              <a:lnSpc>
                <a:spcPct val="115000"/>
              </a:lnSpc>
              <a:spcBef>
                <a:spcPts val="0"/>
              </a:spcBef>
              <a:spcAft>
                <a:spcPts val="0"/>
              </a:spcAft>
              <a:buNone/>
            </a:pPr>
            <a:r>
              <a:rPr lang="en" sz="1100"/>
              <a:t>ClientFName</a:t>
            </a:r>
            <a:endParaRPr sz="1100"/>
          </a:p>
          <a:p>
            <a:pPr marL="0" lvl="0" indent="0" algn="l" rtl="0">
              <a:lnSpc>
                <a:spcPct val="115000"/>
              </a:lnSpc>
              <a:spcBef>
                <a:spcPts val="0"/>
              </a:spcBef>
              <a:spcAft>
                <a:spcPts val="0"/>
              </a:spcAft>
              <a:buNone/>
            </a:pPr>
            <a:r>
              <a:rPr lang="en" sz="1100"/>
              <a:t>ClienttLName</a:t>
            </a:r>
            <a:endParaRPr sz="1100"/>
          </a:p>
          <a:p>
            <a:pPr marL="0" lvl="0" indent="0" algn="l" rtl="0">
              <a:lnSpc>
                <a:spcPct val="115000"/>
              </a:lnSpc>
              <a:spcBef>
                <a:spcPts val="0"/>
              </a:spcBef>
              <a:spcAft>
                <a:spcPts val="0"/>
              </a:spcAft>
              <a:buNone/>
            </a:pPr>
            <a:endParaRPr sz="1100"/>
          </a:p>
        </p:txBody>
      </p:sp>
      <p:sp>
        <p:nvSpPr>
          <p:cNvPr id="80" name="Google Shape;80;p16"/>
          <p:cNvSpPr txBox="1"/>
          <p:nvPr/>
        </p:nvSpPr>
        <p:spPr>
          <a:xfrm>
            <a:off x="7916250" y="3973375"/>
            <a:ext cx="1324500" cy="125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Small Business-</a:t>
            </a:r>
            <a:endParaRPr sz="1100"/>
          </a:p>
          <a:p>
            <a:pPr marL="0" lvl="0" indent="0" algn="l" rtl="0">
              <a:spcBef>
                <a:spcPts val="0"/>
              </a:spcBef>
              <a:spcAft>
                <a:spcPts val="0"/>
              </a:spcAft>
              <a:buNone/>
            </a:pPr>
            <a:r>
              <a:rPr lang="en" sz="1100"/>
              <a:t>Customer</a:t>
            </a:r>
            <a:endParaRPr sz="1100"/>
          </a:p>
          <a:p>
            <a:pPr marL="0" lvl="0" indent="0" algn="l" rtl="0">
              <a:spcBef>
                <a:spcPts val="0"/>
              </a:spcBef>
              <a:spcAft>
                <a:spcPts val="0"/>
              </a:spcAft>
              <a:buNone/>
            </a:pPr>
            <a:r>
              <a:rPr lang="en" sz="1100"/>
              <a:t>—---------</a:t>
            </a:r>
            <a:endParaRPr sz="1100"/>
          </a:p>
          <a:p>
            <a:pPr marL="0" lvl="0" indent="0" algn="l" rtl="0">
              <a:lnSpc>
                <a:spcPct val="115000"/>
              </a:lnSpc>
              <a:spcBef>
                <a:spcPts val="0"/>
              </a:spcBef>
              <a:spcAft>
                <a:spcPts val="0"/>
              </a:spcAft>
              <a:buNone/>
            </a:pPr>
            <a:r>
              <a:rPr lang="en" sz="1100"/>
              <a:t>SmallBusinessID</a:t>
            </a:r>
            <a:endParaRPr sz="1100"/>
          </a:p>
          <a:p>
            <a:pPr marL="0" lvl="0" indent="0" algn="l" rtl="0">
              <a:lnSpc>
                <a:spcPct val="115000"/>
              </a:lnSpc>
              <a:spcBef>
                <a:spcPts val="0"/>
              </a:spcBef>
              <a:spcAft>
                <a:spcPts val="0"/>
              </a:spcAft>
              <a:buNone/>
            </a:pPr>
            <a:r>
              <a:rPr lang="en" sz="1100"/>
              <a:t>TaxID</a:t>
            </a:r>
            <a:endParaRPr sz="1100"/>
          </a:p>
          <a:p>
            <a:pPr marL="0" lvl="0" indent="0" algn="l" rtl="0">
              <a:lnSpc>
                <a:spcPct val="115000"/>
              </a:lnSpc>
              <a:spcBef>
                <a:spcPts val="0"/>
              </a:spcBef>
              <a:spcAft>
                <a:spcPts val="0"/>
              </a:spcAft>
              <a:buNone/>
            </a:pPr>
            <a:r>
              <a:rPr lang="en" sz="1100"/>
              <a:t>DBA</a:t>
            </a:r>
            <a:endParaRPr sz="1100"/>
          </a:p>
        </p:txBody>
      </p:sp>
      <p:sp>
        <p:nvSpPr>
          <p:cNvPr id="81" name="Google Shape;81;p16"/>
          <p:cNvSpPr txBox="1"/>
          <p:nvPr/>
        </p:nvSpPr>
        <p:spPr>
          <a:xfrm>
            <a:off x="5552450" y="396975"/>
            <a:ext cx="5234400" cy="610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0"/>
              </a:spcAft>
              <a:buClr>
                <a:schemeClr val="dk1"/>
              </a:buClr>
              <a:buSzPts val="1100"/>
              <a:buFont typeface="Arial"/>
              <a:buNone/>
            </a:pPr>
            <a:r>
              <a:rPr lang="en" sz="1700">
                <a:solidFill>
                  <a:schemeClr val="dk1"/>
                </a:solidFill>
              </a:rPr>
              <a:t>Attribute List Small Selection:</a:t>
            </a:r>
            <a:endParaRPr sz="1700">
              <a:solidFill>
                <a:schemeClr val="dk1"/>
              </a:solidFill>
            </a:endParaRPr>
          </a:p>
          <a:p>
            <a:pPr marL="0" lvl="0" indent="0" algn="l" rtl="0">
              <a:spcBef>
                <a:spcPts val="1200"/>
              </a:spcBef>
              <a:spcAft>
                <a:spcPts val="0"/>
              </a:spcAft>
              <a:buNone/>
            </a:pPr>
            <a:endParaRPr sz="1800">
              <a:solidFill>
                <a:schemeClr val="dk2"/>
              </a:solidFill>
            </a:endParaRPr>
          </a:p>
        </p:txBody>
      </p:sp>
      <p:pic>
        <p:nvPicPr>
          <p:cNvPr id="82" name="Google Shape;82;p16"/>
          <p:cNvPicPr preferRelativeResize="0"/>
          <p:nvPr/>
        </p:nvPicPr>
        <p:blipFill rotWithShape="1">
          <a:blip r:embed="rId3">
            <a:alphaModFix/>
          </a:blip>
          <a:srcRect l="22831" t="31731" r="24084" b="11278"/>
          <a:stretch/>
        </p:blipFill>
        <p:spPr>
          <a:xfrm>
            <a:off x="122875" y="712925"/>
            <a:ext cx="5846799" cy="40761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Database Schema </a:t>
            </a:r>
            <a:endParaRPr/>
          </a:p>
          <a:p>
            <a:pPr marL="0" lvl="0" indent="0" algn="l" rtl="0">
              <a:spcBef>
                <a:spcPts val="0"/>
              </a:spcBef>
              <a:spcAft>
                <a:spcPts val="0"/>
              </a:spcAft>
              <a:buNone/>
            </a:pPr>
            <a:endParaRPr/>
          </a:p>
        </p:txBody>
      </p:sp>
      <p:sp>
        <p:nvSpPr>
          <p:cNvPr id="88" name="Google Shape;88;p17"/>
          <p:cNvSpPr txBox="1">
            <a:spLocks noGrp="1"/>
          </p:cNvSpPr>
          <p:nvPr>
            <p:ph type="body" idx="1"/>
          </p:nvPr>
        </p:nvSpPr>
        <p:spPr>
          <a:xfrm>
            <a:off x="4743650" y="1152475"/>
            <a:ext cx="40887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Functional dependencies with primary keys</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Normalized attributes like emails, phone numbers, certificates</a:t>
            </a:r>
            <a:endParaRPr>
              <a:solidFill>
                <a:schemeClr val="dk1"/>
              </a:solidFill>
            </a:endParaRPr>
          </a:p>
        </p:txBody>
      </p:sp>
      <p:pic>
        <p:nvPicPr>
          <p:cNvPr id="89" name="Google Shape;89;p17"/>
          <p:cNvPicPr preferRelativeResize="0"/>
          <p:nvPr/>
        </p:nvPicPr>
        <p:blipFill rotWithShape="1">
          <a:blip r:embed="rId3">
            <a:alphaModFix/>
          </a:blip>
          <a:srcRect t="9135" r="59844" b="17008"/>
          <a:stretch/>
        </p:blipFill>
        <p:spPr>
          <a:xfrm>
            <a:off x="228600" y="934298"/>
            <a:ext cx="3524198" cy="42092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311700" y="445025"/>
            <a:ext cx="8520600" cy="882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SQL statements for database construction and data population</a:t>
            </a:r>
            <a:endParaRPr/>
          </a:p>
        </p:txBody>
      </p:sp>
      <p:sp>
        <p:nvSpPr>
          <p:cNvPr id="95" name="Google Shape;95;p18"/>
          <p:cNvSpPr txBox="1">
            <a:spLocks noGrp="1"/>
          </p:cNvSpPr>
          <p:nvPr>
            <p:ph type="body" idx="1"/>
          </p:nvPr>
        </p:nvSpPr>
        <p:spPr>
          <a:xfrm>
            <a:off x="311700" y="1595750"/>
            <a:ext cx="8520600" cy="2973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6" name="Google Shape;96;p18"/>
          <p:cNvPicPr preferRelativeResize="0"/>
          <p:nvPr/>
        </p:nvPicPr>
        <p:blipFill>
          <a:blip r:embed="rId3">
            <a:alphaModFix/>
          </a:blip>
          <a:stretch>
            <a:fillRect/>
          </a:stretch>
        </p:blipFill>
        <p:spPr>
          <a:xfrm>
            <a:off x="356277" y="1659202"/>
            <a:ext cx="4489551" cy="2254275"/>
          </a:xfrm>
          <a:prstGeom prst="rect">
            <a:avLst/>
          </a:prstGeom>
          <a:noFill/>
          <a:ln>
            <a:noFill/>
          </a:ln>
        </p:spPr>
      </p:pic>
      <p:pic>
        <p:nvPicPr>
          <p:cNvPr id="97" name="Google Shape;97;p18"/>
          <p:cNvPicPr preferRelativeResize="0"/>
          <p:nvPr/>
        </p:nvPicPr>
        <p:blipFill>
          <a:blip r:embed="rId4">
            <a:alphaModFix/>
          </a:blip>
          <a:stretch>
            <a:fillRect/>
          </a:stretch>
        </p:blipFill>
        <p:spPr>
          <a:xfrm>
            <a:off x="3602775" y="4016227"/>
            <a:ext cx="5193676" cy="441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311700" y="445025"/>
            <a:ext cx="8520600" cy="882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SQL statements for database construction and data population</a:t>
            </a:r>
            <a:endParaRPr/>
          </a:p>
        </p:txBody>
      </p:sp>
      <p:sp>
        <p:nvSpPr>
          <p:cNvPr id="103" name="Google Shape;103;p19"/>
          <p:cNvSpPr txBox="1">
            <a:spLocks noGrp="1"/>
          </p:cNvSpPr>
          <p:nvPr>
            <p:ph type="body" idx="1"/>
          </p:nvPr>
        </p:nvSpPr>
        <p:spPr>
          <a:xfrm>
            <a:off x="311700" y="1595750"/>
            <a:ext cx="8520600" cy="2973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04" name="Google Shape;104;p19"/>
          <p:cNvPicPr preferRelativeResize="0"/>
          <p:nvPr/>
        </p:nvPicPr>
        <p:blipFill>
          <a:blip r:embed="rId3">
            <a:alphaModFix/>
          </a:blip>
          <a:stretch>
            <a:fillRect/>
          </a:stretch>
        </p:blipFill>
        <p:spPr>
          <a:xfrm>
            <a:off x="335875" y="1622245"/>
            <a:ext cx="3927149" cy="1583900"/>
          </a:xfrm>
          <a:prstGeom prst="rect">
            <a:avLst/>
          </a:prstGeom>
          <a:noFill/>
          <a:ln>
            <a:noFill/>
          </a:ln>
        </p:spPr>
      </p:pic>
      <p:pic>
        <p:nvPicPr>
          <p:cNvPr id="105" name="Google Shape;105;p19"/>
          <p:cNvPicPr preferRelativeResize="0"/>
          <p:nvPr/>
        </p:nvPicPr>
        <p:blipFill rotWithShape="1">
          <a:blip r:embed="rId4">
            <a:alphaModFix/>
          </a:blip>
          <a:srcRect t="31540" r="75484" b="54612"/>
          <a:stretch/>
        </p:blipFill>
        <p:spPr>
          <a:xfrm>
            <a:off x="4401350" y="2694550"/>
            <a:ext cx="4149100" cy="1522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311700" y="-8837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Queries</a:t>
            </a:r>
            <a:endParaRPr/>
          </a:p>
        </p:txBody>
      </p:sp>
      <p:sp>
        <p:nvSpPr>
          <p:cNvPr id="111" name="Google Shape;111;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12" name="Google Shape;112;p20" title="Screen Recording 2024-12-11 at 9.03.00 AM.mov">
            <a:hlinkClick r:id="rId3"/>
          </p:cNvPr>
          <p:cNvPicPr preferRelativeResize="0"/>
          <p:nvPr/>
        </p:nvPicPr>
        <p:blipFill>
          <a:blip r:embed="rId4">
            <a:alphaModFix/>
          </a:blip>
          <a:stretch>
            <a:fillRect/>
          </a:stretch>
        </p:blipFill>
        <p:spPr>
          <a:xfrm>
            <a:off x="1454617" y="484325"/>
            <a:ext cx="6212233" cy="46591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10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285</Words>
  <Application>Microsoft Macintosh PowerPoint</Application>
  <PresentationFormat>On-screen Show (16:9)</PresentationFormat>
  <Paragraphs>75</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Simple Light</vt:lpstr>
      <vt:lpstr>Humboldt Haven IT</vt:lpstr>
      <vt:lpstr>Scenario</vt:lpstr>
      <vt:lpstr>Business Rules</vt:lpstr>
      <vt:lpstr>ER Diagram</vt:lpstr>
      <vt:lpstr>Database Schema  </vt:lpstr>
      <vt:lpstr>SQL statements for database construction and data population</vt:lpstr>
      <vt:lpstr>SQL statements for database construction and data population</vt:lpstr>
      <vt:lpstr>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Dean P Callahan</cp:lastModifiedBy>
  <cp:revision>1</cp:revision>
  <dcterms:modified xsi:type="dcterms:W3CDTF">2024-12-11T17:08:33Z</dcterms:modified>
</cp:coreProperties>
</file>